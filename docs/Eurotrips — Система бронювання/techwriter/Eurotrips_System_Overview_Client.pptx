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92A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бронювання Eurotrips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модулів — план реалізації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53C7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59536"/>
            <a:ext cx="82296" cy="82296"/>
          </a:xfrm>
          <a:prstGeom prst="ellipse">
            <a:avLst/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22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Реліз 1 — критичні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20240" y="859536"/>
            <a:ext cx="82296" cy="82296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822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Реліз 1 — важливі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474720" y="859536"/>
            <a:ext cx="82296" cy="82296"/>
          </a:xfrm>
          <a:prstGeom prst="ellipse">
            <a:avLst/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822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Реліз 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0" y="859536"/>
            <a:ext cx="82296" cy="82296"/>
          </a:xfrm>
          <a:prstGeom prst="ellipse">
            <a:avLst/>
          </a:prstGeom>
          <a:solidFill>
            <a:srgbClr val="F0366D"/>
          </a:solidFill>
          <a:ln w="12700">
            <a:solidFill>
              <a:srgbClr val="F036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822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Реліз 3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1042416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152144"/>
            <a:ext cx="109728" cy="109728"/>
          </a:xfrm>
          <a:prstGeom prst="ellipse">
            <a:avLst/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Авторизація та RBAC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1316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· 7 ролей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5488" y="1618488"/>
            <a:ext cx="315468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1627632"/>
            <a:ext cx="2606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845820" y="1618488"/>
            <a:ext cx="374904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" y="162763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1275588" y="1618488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2164" y="1627632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ролей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066544" y="1042416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76272" y="1152144"/>
            <a:ext cx="109728" cy="109728"/>
          </a:xfrm>
          <a:prstGeom prst="ellipse">
            <a:avLst/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22576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Каталог турів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76272" y="1316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· квоти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176272" y="1618488"/>
            <a:ext cx="374904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2763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606040" y="1618488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42616" y="1627632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BR-04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095244" y="1618488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1820" y="1627632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статусів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767328" y="1042416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77056" y="1152144"/>
            <a:ext cx="109728" cy="109728"/>
          </a:xfrm>
          <a:prstGeom prst="ellipse">
            <a:avLst/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CRM / Ліди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77056" y="1316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каналів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877056" y="1618488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13632" y="1627632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статусів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663440" y="1618488"/>
            <a:ext cx="672084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1627632"/>
            <a:ext cx="6172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sync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5468112" y="1042416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77840" y="1152144"/>
            <a:ext cx="109728" cy="109728"/>
          </a:xfrm>
          <a:prstGeom prst="ellipse">
            <a:avLst/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24144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Бронювання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77840" y="1316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статусів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577840" y="1618488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1627632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BR-06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6067044" y="1618488"/>
            <a:ext cx="315468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03620" y="1627632"/>
            <a:ext cx="2606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6437376" y="1618488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1627632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ET-YYYY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7168896" y="1042416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78624" y="1152144"/>
            <a:ext cx="109728" cy="109728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2492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Фінанси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278624" y="1316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· комісії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278624" y="1618488"/>
            <a:ext cx="493776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0" y="162763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LiqPay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7827264" y="1618488"/>
            <a:ext cx="315468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0" y="1627632"/>
            <a:ext cx="2606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8197596" y="1618488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34172" y="1627632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борги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365760" y="1856232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" y="1965960"/>
            <a:ext cx="109728" cy="109728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" y="1911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Кабінет агента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75488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роялті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75488" y="2432304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" y="2441448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BR-04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964692" y="2432304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1268" y="2441448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BR-07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1453896" y="2432304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90472" y="2441448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2066544" y="1856232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76272" y="1965960"/>
            <a:ext cx="109728" cy="109728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22576" y="1911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· Операційний блок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176272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Чекліст виїзду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176272" y="2432304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12848" y="2441448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чекліст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2784348" y="2432304"/>
            <a:ext cx="493776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20924" y="244144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румінг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767328" y="1856232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77056" y="1965960"/>
            <a:ext cx="109728" cy="109728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23360" y="1911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· Проживання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877056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563 готелі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3877056" y="2432304"/>
            <a:ext cx="672084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913632" y="2441448"/>
            <a:ext cx="6172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OPS-01/02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4604004" y="2432304"/>
            <a:ext cx="493776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40580" y="244144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румінг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5468112" y="1856232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577840" y="1965960"/>
            <a:ext cx="109728" cy="109728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724144" y="1911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· Транспорт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577840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Розсадка · км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577840" y="2432304"/>
            <a:ext cx="612648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614416" y="2441448"/>
            <a:ext cx="557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розсадка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6245352" y="2432304"/>
            <a:ext cx="909828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81928" y="2441448"/>
            <a:ext cx="8549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паливний збір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7168896" y="1856232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78624" y="1965960"/>
            <a:ext cx="109728" cy="109728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24928" y="1911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· Страхування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7278624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VUSO · AXA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278624" y="2432304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15200" y="2441448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BR-09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7767828" y="2432304"/>
            <a:ext cx="672084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804404" y="2441448"/>
            <a:ext cx="6172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поліс PDF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365760" y="2670048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2779776"/>
            <a:ext cx="109728" cy="109728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1792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Документи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475488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PDF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75488" y="3246120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2064" y="3255264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типів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1083564" y="3246120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120140" y="3255264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ролей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2066544" y="2670048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176272" y="2779776"/>
            <a:ext cx="109728" cy="109728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322576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· Комунікації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2176272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тригерів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2176272" y="3246120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212848" y="3255264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Brevo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2665476" y="3246120"/>
            <a:ext cx="612648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702052" y="3255264"/>
            <a:ext cx="557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TurboSMS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3332988" y="3246120"/>
            <a:ext cx="493776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369564" y="32552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BullMQ</a:t>
            </a:r>
            <a:endParaRPr lang="en-US" sz="600" dirty="0"/>
          </a:p>
        </p:txBody>
      </p:sp>
      <p:sp>
        <p:nvSpPr>
          <p:cNvPr id="122" name="Shape 120"/>
          <p:cNvSpPr/>
          <p:nvPr/>
        </p:nvSpPr>
        <p:spPr>
          <a:xfrm>
            <a:off x="3767328" y="2670048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877056" y="2779776"/>
            <a:ext cx="109728" cy="109728"/>
          </a:xfrm>
          <a:prstGeom prst="ellipse">
            <a:avLst/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023360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· Zoho CRM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3877056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Двосторонній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3877056" y="3246120"/>
            <a:ext cx="672084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913632" y="3255264"/>
            <a:ext cx="6172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модулі</a:t>
            </a:r>
            <a:endParaRPr lang="en-US" sz="600" dirty="0"/>
          </a:p>
        </p:txBody>
      </p:sp>
      <p:sp>
        <p:nvSpPr>
          <p:cNvPr id="128" name="Shape 126"/>
          <p:cNvSpPr/>
          <p:nvPr/>
        </p:nvSpPr>
        <p:spPr>
          <a:xfrm>
            <a:off x="4604004" y="3246120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640580" y="3255264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600" dirty="0"/>
          </a:p>
        </p:txBody>
      </p:sp>
      <p:sp>
        <p:nvSpPr>
          <p:cNvPr id="130" name="Shape 128"/>
          <p:cNvSpPr/>
          <p:nvPr/>
        </p:nvSpPr>
        <p:spPr>
          <a:xfrm>
            <a:off x="5468112" y="2670048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577840" y="2779776"/>
            <a:ext cx="109728" cy="109728"/>
          </a:xfrm>
          <a:prstGeom prst="ellipse">
            <a:avLst/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724144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· Платежі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5577840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LiqPay / WFP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5577840" y="3246120"/>
            <a:ext cx="374904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614416" y="325526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SHA1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6007608" y="3246120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044184" y="3255264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BR-01</a:t>
            </a:r>
            <a:endParaRPr lang="en-US" sz="600" dirty="0"/>
          </a:p>
        </p:txBody>
      </p:sp>
      <p:sp>
        <p:nvSpPr>
          <p:cNvPr id="138" name="Shape 136"/>
          <p:cNvSpPr/>
          <p:nvPr/>
        </p:nvSpPr>
        <p:spPr>
          <a:xfrm>
            <a:off x="7168896" y="2670048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278624" y="2779776"/>
            <a:ext cx="109728" cy="109728"/>
          </a:xfrm>
          <a:prstGeom prst="ellipse">
            <a:avLst/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424928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· Упр. агентами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7278624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Онбординг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7278624" y="3246120"/>
            <a:ext cx="493776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315200" y="32552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600" dirty="0"/>
          </a:p>
        </p:txBody>
      </p:sp>
      <p:sp>
        <p:nvSpPr>
          <p:cNvPr id="144" name="Shape 142"/>
          <p:cNvSpPr/>
          <p:nvPr/>
        </p:nvSpPr>
        <p:spPr>
          <a:xfrm>
            <a:off x="7827264" y="3246120"/>
            <a:ext cx="85039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863840" y="3255264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AgentNetwork</a:t>
            </a:r>
            <a:endParaRPr lang="en-US" sz="600" dirty="0"/>
          </a:p>
        </p:txBody>
      </p:sp>
      <p:sp>
        <p:nvSpPr>
          <p:cNvPr id="146" name="Shape 144"/>
          <p:cNvSpPr/>
          <p:nvPr/>
        </p:nvSpPr>
        <p:spPr>
          <a:xfrm>
            <a:off x="365760" y="3483864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75488" y="3593592"/>
            <a:ext cx="109728" cy="109728"/>
          </a:xfrm>
          <a:prstGeom prst="ellipse">
            <a:avLst/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21792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· Аналітика / BI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475488" y="3758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дашбордів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475488" y="4059936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12064" y="4069080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Реліз 2</a:t>
            </a:r>
            <a:endParaRPr lang="en-US" sz="600" dirty="0"/>
          </a:p>
        </p:txBody>
      </p:sp>
      <p:sp>
        <p:nvSpPr>
          <p:cNvPr id="152" name="Shape 150"/>
          <p:cNvSpPr/>
          <p:nvPr/>
        </p:nvSpPr>
        <p:spPr>
          <a:xfrm>
            <a:off x="1083564" y="4059936"/>
            <a:ext cx="315468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120140" y="4069080"/>
            <a:ext cx="2606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600" dirty="0"/>
          </a:p>
        </p:txBody>
      </p:sp>
      <p:sp>
        <p:nvSpPr>
          <p:cNvPr id="154" name="Shape 152"/>
          <p:cNvSpPr/>
          <p:nvPr/>
        </p:nvSpPr>
        <p:spPr>
          <a:xfrm>
            <a:off x="2066544" y="3483864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176272" y="3593592"/>
            <a:ext cx="109728" cy="109728"/>
          </a:xfrm>
          <a:prstGeom prst="ellipse">
            <a:avLst/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322576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· Кабінет туриста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2176272" y="3758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2176272" y="4059936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212848" y="4069080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Реліз 2</a:t>
            </a:r>
            <a:endParaRPr lang="en-US" sz="600" dirty="0"/>
          </a:p>
        </p:txBody>
      </p:sp>
      <p:sp>
        <p:nvSpPr>
          <p:cNvPr id="160" name="Shape 158"/>
          <p:cNvSpPr/>
          <p:nvPr/>
        </p:nvSpPr>
        <p:spPr>
          <a:xfrm>
            <a:off x="2784348" y="4059936"/>
            <a:ext cx="493776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2820924" y="4069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OPS-03</a:t>
            </a:r>
            <a:endParaRPr lang="en-US" sz="600" dirty="0"/>
          </a:p>
        </p:txBody>
      </p:sp>
      <p:sp>
        <p:nvSpPr>
          <p:cNvPr id="162" name="Shape 160"/>
          <p:cNvSpPr/>
          <p:nvPr/>
        </p:nvSpPr>
        <p:spPr>
          <a:xfrm>
            <a:off x="3767328" y="3483864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877056" y="3593592"/>
            <a:ext cx="109728" cy="109728"/>
          </a:xfrm>
          <a:prstGeom prst="ellipse">
            <a:avLst/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023360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· Активності</a:t>
            </a:r>
            <a:endParaRPr lang="en-US" sz="850" dirty="0"/>
          </a:p>
        </p:txBody>
      </p:sp>
      <p:sp>
        <p:nvSpPr>
          <p:cNvPr id="165" name="Text 163"/>
          <p:cNvSpPr/>
          <p:nvPr/>
        </p:nvSpPr>
        <p:spPr>
          <a:xfrm>
            <a:off x="3877056" y="3758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4341 записів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3877056" y="4059936"/>
            <a:ext cx="374904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913632" y="406908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гіди</a:t>
            </a:r>
            <a:endParaRPr lang="en-US" sz="600" dirty="0"/>
          </a:p>
        </p:txBody>
      </p:sp>
      <p:sp>
        <p:nvSpPr>
          <p:cNvPr id="168" name="Shape 166"/>
          <p:cNvSpPr/>
          <p:nvPr/>
        </p:nvSpPr>
        <p:spPr>
          <a:xfrm>
            <a:off x="4306824" y="4059936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343400" y="4069080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міста</a:t>
            </a:r>
            <a:endParaRPr lang="en-US" sz="600" dirty="0"/>
          </a:p>
        </p:txBody>
      </p:sp>
      <p:sp>
        <p:nvSpPr>
          <p:cNvPr id="170" name="Shape 168"/>
          <p:cNvSpPr/>
          <p:nvPr/>
        </p:nvSpPr>
        <p:spPr>
          <a:xfrm>
            <a:off x="5468112" y="3483864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577840" y="3593592"/>
            <a:ext cx="109728" cy="109728"/>
          </a:xfrm>
          <a:prstGeom prst="ellipse">
            <a:avLst/>
          </a:prstGeom>
          <a:solidFill>
            <a:srgbClr val="F0366D"/>
          </a:solidFill>
          <a:ln w="12700">
            <a:solidFill>
              <a:srgbClr val="F0366D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724144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 · Мобільний додаток</a:t>
            </a:r>
            <a:endParaRPr lang="en-US" sz="850" dirty="0"/>
          </a:p>
        </p:txBody>
      </p:sp>
      <p:sp>
        <p:nvSpPr>
          <p:cNvPr id="173" name="Text 171"/>
          <p:cNvSpPr/>
          <p:nvPr/>
        </p:nvSpPr>
        <p:spPr>
          <a:xfrm>
            <a:off x="5577840" y="3758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/ Android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5577840" y="4059936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614416" y="4069080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Реліз 3</a:t>
            </a:r>
            <a:endParaRPr lang="en-US" sz="600" dirty="0"/>
          </a:p>
        </p:txBody>
      </p:sp>
      <p:sp>
        <p:nvSpPr>
          <p:cNvPr id="176" name="Shape 174"/>
          <p:cNvSpPr/>
          <p:nvPr/>
        </p:nvSpPr>
        <p:spPr>
          <a:xfrm>
            <a:off x="6185916" y="4059936"/>
            <a:ext cx="315468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222492" y="4069080"/>
            <a:ext cx="2606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600" dirty="0"/>
          </a:p>
        </p:txBody>
      </p:sp>
      <p:sp>
        <p:nvSpPr>
          <p:cNvPr id="178" name="Shape 176"/>
          <p:cNvSpPr/>
          <p:nvPr/>
        </p:nvSpPr>
        <p:spPr>
          <a:xfrm>
            <a:off x="7168896" y="3483864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16213E"/>
          </a:solidFill>
          <a:ln w="6350">
            <a:solidFill>
              <a:srgbClr val="252D4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278624" y="3593592"/>
            <a:ext cx="109728" cy="109728"/>
          </a:xfrm>
          <a:prstGeom prst="ellipse">
            <a:avLst/>
          </a:prstGeom>
          <a:solidFill>
            <a:srgbClr val="F0366D"/>
          </a:solidFill>
          <a:ln w="12700">
            <a:solidFill>
              <a:srgbClr val="F0366D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424928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· Групові запити</a:t>
            </a:r>
            <a:endParaRPr lang="en-US" sz="850" dirty="0"/>
          </a:p>
        </p:txBody>
      </p:sp>
      <p:sp>
        <p:nvSpPr>
          <p:cNvPr id="181" name="Text 179"/>
          <p:cNvSpPr/>
          <p:nvPr/>
        </p:nvSpPr>
        <p:spPr>
          <a:xfrm>
            <a:off x="7278624" y="3758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7278624" y="4059936"/>
            <a:ext cx="553212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315200" y="4069080"/>
            <a:ext cx="4983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Реліз 2</a:t>
            </a:r>
            <a:endParaRPr lang="en-US" sz="600" dirty="0"/>
          </a:p>
        </p:txBody>
      </p:sp>
      <p:sp>
        <p:nvSpPr>
          <p:cNvPr id="184" name="Shape 182"/>
          <p:cNvSpPr/>
          <p:nvPr/>
        </p:nvSpPr>
        <p:spPr>
          <a:xfrm>
            <a:off x="7886700" y="4059936"/>
            <a:ext cx="434340" cy="146304"/>
          </a:xfrm>
          <a:prstGeom prst="roundRect">
            <a:avLst>
              <a:gd name="adj" fmla="val 50000"/>
            </a:avLst>
          </a:prstGeom>
          <a:solidFill>
            <a:srgbClr val="252D4A"/>
          </a:solidFill>
          <a:ln w="12700">
            <a:solidFill>
              <a:srgbClr val="252D4A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923276" y="4069080"/>
            <a:ext cx="379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600" dirty="0"/>
          </a:p>
        </p:txBody>
      </p:sp>
      <p:sp>
        <p:nvSpPr>
          <p:cNvPr id="186" name="Text 18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eurotrips.ua  ·  Система бронювання  · 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Архітектурна схема системи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493776"/>
            <a:ext cx="8412480" cy="0"/>
          </a:xfrm>
          <a:prstGeom prst="line">
            <a:avLst/>
          </a:prstGeom>
          <a:noFill/>
          <a:ln w="19050">
            <a:solidFill>
              <a:srgbClr val="53C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548640"/>
            <a:ext cx="2194560" cy="402336"/>
          </a:xfrm>
          <a:prstGeom prst="roundRect">
            <a:avLst>
              <a:gd name="adj" fmla="val 15909"/>
            </a:avLst>
          </a:prstGeom>
          <a:solidFill>
            <a:srgbClr val="13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9584" y="603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eurotrips.ua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29584" y="7955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· вхід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572000" y="950976"/>
            <a:ext cx="0" cy="146304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097280"/>
            <a:ext cx="3291840" cy="475488"/>
          </a:xfrm>
          <a:prstGeom prst="roundRect">
            <a:avLst>
              <a:gd name="adj" fmla="val 13462"/>
            </a:avLst>
          </a:prstGeom>
          <a:solidFill>
            <a:srgbClr val="13182A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1152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Авторизація та RBAC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80944" y="13441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· 7 ролей · audit log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572000" y="1572768"/>
            <a:ext cx="0" cy="164592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37360"/>
            <a:ext cx="2011680" cy="475488"/>
          </a:xfrm>
          <a:prstGeom prst="roundRect">
            <a:avLst>
              <a:gd name="adj" fmla="val 13462"/>
            </a:avLst>
          </a:prstGeom>
          <a:solidFill>
            <a:srgbClr val="13182A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792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Каталог турів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" y="19842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· квоти · BR-04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926080" y="1737360"/>
            <a:ext cx="2377440" cy="475488"/>
          </a:xfrm>
          <a:prstGeom prst="roundRect">
            <a:avLst>
              <a:gd name="adj" fmla="val 13462"/>
            </a:avLst>
          </a:prstGeom>
          <a:solidFill>
            <a:srgbClr val="13182A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1792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CRM / Ліди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80944" y="1984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статусів · 10 каналів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852160" y="1737360"/>
            <a:ext cx="2011680" cy="475488"/>
          </a:xfrm>
          <a:prstGeom prst="roundRect">
            <a:avLst>
              <a:gd name="adj" fmla="val 13462"/>
            </a:avLst>
          </a:prstGeom>
          <a:solidFill>
            <a:srgbClr val="13182A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1792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Агенти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07024" y="19842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· network · BR-07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280160" y="2212848"/>
            <a:ext cx="0" cy="164592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2212848"/>
            <a:ext cx="-457200" cy="164592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212848"/>
            <a:ext cx="-1371600" cy="164592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377440"/>
            <a:ext cx="7589520" cy="512064"/>
          </a:xfrm>
          <a:prstGeom prst="roundRect">
            <a:avLst>
              <a:gd name="adj" fmla="val 12500"/>
            </a:avLst>
          </a:prstGeom>
          <a:solidFill>
            <a:srgbClr val="13182A"/>
          </a:solidFill>
          <a:ln w="12700">
            <a:solidFill>
              <a:srgbClr val="F036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43230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Бронювання — центральний модуль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9184" y="26243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статусів · BR-01/06/08 · ET-YYYY-NNNNN · туристи · оплати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914400" y="2889504"/>
            <a:ext cx="-365760" cy="164592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2889504"/>
            <a:ext cx="0" cy="164592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2889504"/>
            <a:ext cx="0" cy="164592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2889504"/>
            <a:ext cx="365760" cy="164592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2889504"/>
            <a:ext cx="731520" cy="164592"/>
          </a:xfrm>
          <a:prstGeom prst="line">
            <a:avLst/>
          </a:prstGeom>
          <a:noFill/>
          <a:ln w="10160">
            <a:solidFill>
              <a:srgbClr val="8892A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054096"/>
            <a:ext cx="1371600" cy="420624"/>
          </a:xfrm>
          <a:prstGeom prst="roundRect">
            <a:avLst>
              <a:gd name="adj" fmla="val 15217"/>
            </a:avLst>
          </a:prstGeom>
          <a:solidFill>
            <a:srgbClr val="13182A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108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Фінанси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9184" y="33009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· LiqPay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719072" y="3054096"/>
            <a:ext cx="1371600" cy="420624"/>
          </a:xfrm>
          <a:prstGeom prst="roundRect">
            <a:avLst>
              <a:gd name="adj" fmla="val 15217"/>
            </a:avLst>
          </a:prstGeom>
          <a:solidFill>
            <a:srgbClr val="13182A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73936" y="3108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· Операції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773936" y="33009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чекліст · румінг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163824" y="3054096"/>
            <a:ext cx="1371600" cy="420624"/>
          </a:xfrm>
          <a:prstGeom prst="roundRect">
            <a:avLst>
              <a:gd name="adj" fmla="val 15217"/>
            </a:avLst>
          </a:prstGeom>
          <a:solidFill>
            <a:srgbClr val="13182A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18688" y="3108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Документи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18688" y="33009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7 типів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608576" y="3054096"/>
            <a:ext cx="1371600" cy="420624"/>
          </a:xfrm>
          <a:prstGeom prst="roundRect">
            <a:avLst>
              <a:gd name="adj" fmla="val 15217"/>
            </a:avLst>
          </a:prstGeom>
          <a:solidFill>
            <a:srgbClr val="13182A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108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· Комунікації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63440" y="33009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· SMS · TG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053328" y="3054096"/>
            <a:ext cx="1828800" cy="420624"/>
          </a:xfrm>
          <a:prstGeom prst="roundRect">
            <a:avLst>
              <a:gd name="adj" fmla="val 15217"/>
            </a:avLst>
          </a:prstGeom>
          <a:solidFill>
            <a:srgbClr val="13182A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3108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· Страхування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08192" y="33009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VUSO · AXA · BR-09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74320" y="3657600"/>
            <a:ext cx="8503920" cy="512064"/>
          </a:xfrm>
          <a:prstGeom prst="roundRect">
            <a:avLst>
              <a:gd name="adj" fmla="val 12500"/>
            </a:avLst>
          </a:prstGeom>
          <a:solidFill>
            <a:srgbClr val="13182A"/>
          </a:solidFill>
          <a:ln w="10160">
            <a:solidFill>
              <a:srgbClr val="F9C01D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329184" y="37124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Інтеграції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9184" y="390448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CRM (22 модулі · webhook)  ·  LiqPay · Brevo email · TurboSMS · Telegram Bot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74320" y="4261104"/>
            <a:ext cx="8503920" cy="420624"/>
          </a:xfrm>
          <a:prstGeom prst="roundRect">
            <a:avLst>
              <a:gd name="adj" fmla="val 15217"/>
            </a:avLst>
          </a:prstGeom>
          <a:solidFill>
            <a:srgbClr val="13182A"/>
          </a:solidFill>
          <a:ln w="10160">
            <a:solidFill>
              <a:srgbClr val="4A5A72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329184" y="43159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· Аналітика та BI (Реліз 2)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9184" y="45079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дашбордів · продажі · конверсія · завантаженість · прибутковість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eurotrips.ua  ·  Система бронювання  · 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Реалізовані компоненти — стан на червень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493776"/>
            <a:ext cx="8412480" cy="0"/>
          </a:xfrm>
          <a:prstGeom prst="line">
            <a:avLst/>
          </a:prstGeom>
          <a:noFill/>
          <a:ln w="19050">
            <a:solidFill>
              <a:srgbClr val="53C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66928"/>
            <a:ext cx="219456" cy="128016"/>
          </a:xfrm>
          <a:prstGeom prst="rect">
            <a:avLst>
              <a:gd name="adj" fmla="val 21429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5486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Завершено (≥85%)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0" y="566928"/>
            <a:ext cx="219456" cy="128016"/>
          </a:xfrm>
          <a:prstGeom prst="rect">
            <a:avLst>
              <a:gd name="adj" fmla="val 21429"/>
            </a:avLst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5486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процесі (50–85%)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0" y="566928"/>
            <a:ext cx="219456" cy="128016"/>
          </a:xfrm>
          <a:prstGeom prst="rect">
            <a:avLst>
              <a:gd name="adj" fmla="val 21429"/>
            </a:avLst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5486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Розпочато (&lt;50%)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0A0F20"/>
          </a:solidFill>
          <a:ln w="8890">
            <a:solidFill>
              <a:srgbClr val="53C7D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11480" y="822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4048" y="1042416"/>
            <a:ext cx="1865376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53C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0972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 API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26187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✓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77440" y="1042416"/>
            <a:ext cx="1865376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53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10972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Tours API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50592" y="126187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✓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84048" y="1545336"/>
            <a:ext cx="1865376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53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6002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Bookings API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176479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✓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377440" y="1545336"/>
            <a:ext cx="1865376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53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0592" y="16002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 API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50592" y="176479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✓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4048" y="2048256"/>
            <a:ext cx="1865376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F9C0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103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Finance API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22677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9C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✓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377440" y="2048256"/>
            <a:ext cx="1865376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F9C0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50592" y="2103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 API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50592" y="22677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9C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" y="2596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20 моделей · seed.ts · audit_log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480560" y="777240"/>
            <a:ext cx="4389120" cy="2103120"/>
          </a:xfrm>
          <a:prstGeom prst="roundRect">
            <a:avLst>
              <a:gd name="adj" fmla="val 4348"/>
            </a:avLst>
          </a:prstGeom>
          <a:solidFill>
            <a:srgbClr val="0A0F20"/>
          </a:solidFill>
          <a:ln w="8890">
            <a:solidFill>
              <a:srgbClr val="2D70B9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617720" y="8229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7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 (React 18 + Vite)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90288" y="104241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53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0972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 / Auth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12618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748272" y="104241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53C7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10972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AgentCabinet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21424" y="12618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90288" y="154533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F9C01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Tours.tsx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63440" y="17647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9C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748272" y="154533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F9C01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21424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Bookings.tsx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21424" y="17647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9C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90288" y="204825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F9C01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103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63440" y="22677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9C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748272" y="204825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131928"/>
          </a:solidFill>
          <a:ln w="7620">
            <a:solidFill>
              <a:srgbClr val="2D70B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2103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BookingDetail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21424" y="22677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7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🚧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90288" y="25968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· RBAC hooks · bookingTransitions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274320" y="2962656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0A0F20"/>
          </a:solidFill>
          <a:ln w="8890">
            <a:solidFill>
              <a:srgbClr val="F9C01D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411480" y="29992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9C0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ІНТЕГРАЦІЇ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84048" y="3182112"/>
            <a:ext cx="1316736" cy="365760"/>
          </a:xfrm>
          <a:prstGeom prst="roundRect">
            <a:avLst>
              <a:gd name="adj" fmla="val 12500"/>
            </a:avLst>
          </a:prstGeom>
          <a:solidFill>
            <a:srgbClr val="131928"/>
          </a:solidFill>
          <a:ln w="7620">
            <a:solidFill>
              <a:srgbClr val="53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32735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LiqPay 90%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819656" y="3182112"/>
            <a:ext cx="1316736" cy="365760"/>
          </a:xfrm>
          <a:prstGeom prst="roundRect">
            <a:avLst>
              <a:gd name="adj" fmla="val 12500"/>
            </a:avLst>
          </a:prstGeom>
          <a:solidFill>
            <a:srgbClr val="131928"/>
          </a:solidFill>
          <a:ln w="7620">
            <a:solidFill>
              <a:srgbClr val="53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74520" y="32735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Brevo 80%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255264" y="3182112"/>
            <a:ext cx="1316736" cy="365760"/>
          </a:xfrm>
          <a:prstGeom prst="roundRect">
            <a:avLst>
              <a:gd name="adj" fmla="val 12500"/>
            </a:avLst>
          </a:prstGeom>
          <a:solidFill>
            <a:srgbClr val="131928"/>
          </a:solidFill>
          <a:ln w="7620">
            <a:solidFill>
              <a:srgbClr val="F9C01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10128" y="32735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C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CRM 65%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690872" y="3182112"/>
            <a:ext cx="1316736" cy="365760"/>
          </a:xfrm>
          <a:prstGeom prst="roundRect">
            <a:avLst>
              <a:gd name="adj" fmla="val 12500"/>
            </a:avLst>
          </a:prstGeom>
          <a:solidFill>
            <a:srgbClr val="131928"/>
          </a:solidFill>
          <a:ln w="7620">
            <a:solidFill>
              <a:srgbClr val="F9C01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45736" y="32735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C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WH 75%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126480" y="3182112"/>
            <a:ext cx="1316736" cy="365760"/>
          </a:xfrm>
          <a:prstGeom prst="roundRect">
            <a:avLst>
              <a:gd name="adj" fmla="val 12500"/>
            </a:avLst>
          </a:prstGeom>
          <a:solidFill>
            <a:srgbClr val="131928"/>
          </a:solidFill>
          <a:ln w="7620">
            <a:solidFill>
              <a:srgbClr val="2D70B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81344" y="32735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7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30%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562088" y="3182112"/>
            <a:ext cx="1316736" cy="365760"/>
          </a:xfrm>
          <a:prstGeom prst="roundRect">
            <a:avLst>
              <a:gd name="adj" fmla="val 12500"/>
            </a:avLst>
          </a:prstGeom>
          <a:solidFill>
            <a:srgbClr val="131928"/>
          </a:solidFill>
          <a:ln w="7620">
            <a:solidFill>
              <a:srgbClr val="2D70B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16952" y="32735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7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25%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74320" y="374904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0A0F20"/>
          </a:solidFill>
          <a:ln w="8890">
            <a:solidFill>
              <a:srgbClr val="53C7D6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411480" y="37856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11480" y="39684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9C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Playwright тестів · 75%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11480" y="41330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· rbac · tours · bookings spec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4663440" y="374904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0A0F20"/>
          </a:solidFill>
          <a:ln w="8890">
            <a:solidFill>
              <a:srgbClr val="2D70B9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4800600" y="37856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D7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800600" y="39684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95% · CI/CD 90% · Nginx 85%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800600" y="4133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3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Hetzner CX32 — deploy очікує (10%)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eurotrips.ua  ·  Система бронювання  · 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Прогрес реалізації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583680" y="5669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готовність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53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77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92A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Авторизація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74520" y="114300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1143000"/>
            <a:ext cx="694944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1155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3898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турів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74520" y="141732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1417320"/>
            <a:ext cx="658368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3898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16642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Бронювання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74520" y="169164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1691640"/>
            <a:ext cx="621792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16642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/ Ліди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874520" y="196596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4520" y="1965960"/>
            <a:ext cx="585216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1938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22128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74520" y="224028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74520" y="2240280"/>
            <a:ext cx="548640" cy="68580"/>
          </a:xfrm>
          <a:prstGeom prst="roundRect">
            <a:avLst>
              <a:gd name="adj" fmla="val 53333"/>
            </a:avLst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2128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9C0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24871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Фінанси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74520" y="251460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74520" y="2514600"/>
            <a:ext cx="512064" cy="68580"/>
          </a:xfrm>
          <a:prstGeom prst="roundRect">
            <a:avLst>
              <a:gd name="adj" fmla="val 53333"/>
            </a:avLst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24871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9C0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70%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5760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даних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74520" y="278892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74520" y="2788920"/>
            <a:ext cx="643738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27614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88%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154680" y="877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92A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54680" y="11155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Авторизація UI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63440" y="114300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1143000"/>
            <a:ext cx="694944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2392" y="11155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154680" y="13898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AgentCabinet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63440" y="141732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1417320"/>
            <a:ext cx="585216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22392" y="13898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154680" y="16642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Tours.tsx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63440" y="169164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1691640"/>
            <a:ext cx="548640" cy="68580"/>
          </a:xfrm>
          <a:prstGeom prst="roundRect">
            <a:avLst>
              <a:gd name="adj" fmla="val 53333"/>
            </a:avLst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22392" y="16642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9C0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75%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154680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Bookings.tsx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63440" y="196596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1965960"/>
            <a:ext cx="512064" cy="68580"/>
          </a:xfrm>
          <a:prstGeom prst="roundRect">
            <a:avLst>
              <a:gd name="adj" fmla="val 53333"/>
            </a:avLst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22392" y="1938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9C0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70%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154680" y="22128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63440" y="224028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63440" y="2240280"/>
            <a:ext cx="475488" cy="68580"/>
          </a:xfrm>
          <a:prstGeom prst="roundRect">
            <a:avLst>
              <a:gd name="adj" fmla="val 53333"/>
            </a:avLst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22392" y="22128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9C0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65%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154680" y="24871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BookingDetail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63440" y="251460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2514600"/>
            <a:ext cx="146304" cy="68580"/>
          </a:xfrm>
          <a:prstGeom prst="roundRect">
            <a:avLst>
              <a:gd name="adj" fmla="val 53333"/>
            </a:avLst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22392" y="24871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D7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154680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tokens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663440" y="278892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63440" y="2788920"/>
            <a:ext cx="292608" cy="68580"/>
          </a:xfrm>
          <a:prstGeom prst="roundRect">
            <a:avLst>
              <a:gd name="adj" fmla="val 53333"/>
            </a:avLst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22392" y="27614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D7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943600" y="877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92A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Інтеграції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943600" y="11155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LiqPay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452360" y="114300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52360" y="1143000"/>
            <a:ext cx="658368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11312" y="11155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943600" y="13898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Brevo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452360" y="141732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52360" y="1417320"/>
            <a:ext cx="585216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11312" y="13898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943600" y="16642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webhook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452360" y="169164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52360" y="1691640"/>
            <a:ext cx="548640" cy="68580"/>
          </a:xfrm>
          <a:prstGeom prst="roundRect">
            <a:avLst>
              <a:gd name="adj" fmla="val 53333"/>
            </a:avLst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11312" y="16642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9C0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75%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943600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міграція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452360" y="196596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52360" y="1965960"/>
            <a:ext cx="475488" cy="68580"/>
          </a:xfrm>
          <a:prstGeom prst="roundRect">
            <a:avLst>
              <a:gd name="adj" fmla="val 53333"/>
            </a:avLst>
          </a:prstGeom>
          <a:solidFill>
            <a:srgbClr val="F9C01D"/>
          </a:solidFill>
          <a:ln w="12700">
            <a:solidFill>
              <a:srgbClr val="F9C01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11312" y="1938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9C0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65%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943600" y="22128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TurboSMS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452360" y="224028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52360" y="2240280"/>
            <a:ext cx="219456" cy="68580"/>
          </a:xfrm>
          <a:prstGeom prst="roundRect">
            <a:avLst>
              <a:gd name="adj" fmla="val 53333"/>
            </a:avLst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11312" y="22128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D7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943600" y="24871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452360" y="251460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52360" y="2514600"/>
            <a:ext cx="182880" cy="68580"/>
          </a:xfrm>
          <a:prstGeom prst="roundRect">
            <a:avLst>
              <a:gd name="adj" fmla="val 53333"/>
            </a:avLst>
          </a:prstGeom>
          <a:solidFill>
            <a:srgbClr val="2D70B9"/>
          </a:solidFill>
          <a:ln w="12700">
            <a:solidFill>
              <a:srgbClr val="2D70B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11312" y="24871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D7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943600" y="27980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92A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943600" y="3017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dev+prod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452360" y="3044952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52360" y="3044952"/>
            <a:ext cx="694944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11312" y="3017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5943600" y="32735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GitHub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7452360" y="3300984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452360" y="3300984"/>
            <a:ext cx="658368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211312" y="32735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5943600" y="35295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/ SSL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7452360" y="3557016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52360" y="3557016"/>
            <a:ext cx="621792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211312" y="3529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85%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5943600" y="37856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7452360" y="3813048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452360" y="3813048"/>
            <a:ext cx="658368" cy="68580"/>
          </a:xfrm>
          <a:prstGeom prst="roundRect">
            <a:avLst>
              <a:gd name="adj" fmla="val 53333"/>
            </a:avLst>
          </a:prstGeom>
          <a:solidFill>
            <a:srgbClr val="53C7D6"/>
          </a:solidFill>
          <a:ln w="12700">
            <a:solidFill>
              <a:srgbClr val="53C7D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211312" y="37856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3C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5943600" y="40416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🚨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7452360" y="4069080"/>
            <a:ext cx="731520" cy="68580"/>
          </a:xfrm>
          <a:prstGeom prst="roundRect">
            <a:avLst>
              <a:gd name="adj" fmla="val 53333"/>
            </a:avLst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52360" y="4069080"/>
            <a:ext cx="73152" cy="68580"/>
          </a:xfrm>
          <a:prstGeom prst="roundRect">
            <a:avLst>
              <a:gd name="adj" fmla="val 53333"/>
            </a:avLst>
          </a:prstGeom>
          <a:solidFill>
            <a:srgbClr val="F0366D"/>
          </a:solidFill>
          <a:ln w="12700">
            <a:solidFill>
              <a:srgbClr val="F0366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211312" y="40416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036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365760" y="4572000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0D1428"/>
          </a:solidFill>
          <a:ln w="12700">
            <a:solidFill>
              <a:srgbClr val="F0366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8640" y="46451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36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🚨 Критичний блокер: Production deploy на Hetzner CX32 не виконано  ·  Рішення: first-deploy.sh → verify-prod.sh  ·  ~4–5 тижнів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Eurotrips Booking System — Overview</dc:title>
  <dc:subject>Система бронювання Eurotrips — Огляд для замовника</dc:subject>
  <dc:creator>Eurotrips Tech Writer</dc:creator>
  <cp:lastModifiedBy>Eurotrips Tech Writer</cp:lastModifiedBy>
  <cp:revision>1</cp:revision>
  <dcterms:created xsi:type="dcterms:W3CDTF">2026-06-23T09:17:28Z</dcterms:created>
  <dcterms:modified xsi:type="dcterms:W3CDTF">2026-06-23T09:17:28Z</dcterms:modified>
</cp:coreProperties>
</file>